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8" r:id="rId3"/>
    <p:sldId id="269" r:id="rId4"/>
    <p:sldId id="276" r:id="rId5"/>
    <p:sldId id="271" r:id="rId6"/>
    <p:sldId id="282" r:id="rId7"/>
    <p:sldId id="283" r:id="rId8"/>
    <p:sldId id="281" r:id="rId9"/>
    <p:sldId id="274" r:id="rId10"/>
    <p:sldId id="27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nsh Srivastava" userId="90dea206ccfcc755" providerId="LiveId" clId="{9C6F7B0F-DDFF-4AB1-BB98-DC2F86B5DB67}"/>
    <pc:docChg chg="modSld">
      <pc:chgData name="Shreyansh Srivastava" userId="90dea206ccfcc755" providerId="LiveId" clId="{9C6F7B0F-DDFF-4AB1-BB98-DC2F86B5DB67}" dt="2026-10-12T08:57:16.033" v="53" actId="20577"/>
      <pc:docMkLst>
        <pc:docMk/>
      </pc:docMkLst>
      <pc:sldChg chg="modSp mod">
        <pc:chgData name="Shreyansh Srivastava" userId="90dea206ccfcc755" providerId="LiveId" clId="{9C6F7B0F-DDFF-4AB1-BB98-DC2F86B5DB67}" dt="2026-10-12T08:57:16.033" v="53" actId="20577"/>
        <pc:sldMkLst>
          <pc:docMk/>
          <pc:sldMk cId="983572347" sldId="256"/>
        </pc:sldMkLst>
        <pc:spChg chg="mod">
          <ac:chgData name="Shreyansh Srivastava" userId="90dea206ccfcc755" providerId="LiveId" clId="{9C6F7B0F-DDFF-4AB1-BB98-DC2F86B5DB67}" dt="2026-10-12T08:57:00.546" v="28" actId="20577"/>
          <ac:spMkLst>
            <pc:docMk/>
            <pc:sldMk cId="983572347" sldId="256"/>
            <ac:spMk id="3" creationId="{617E1CBB-AF57-3F2D-3AD0-7A6F5C29C0A9}"/>
          </ac:spMkLst>
        </pc:spChg>
        <pc:spChg chg="mod">
          <ac:chgData name="Shreyansh Srivastava" userId="90dea206ccfcc755" providerId="LiveId" clId="{9C6F7B0F-DDFF-4AB1-BB98-DC2F86B5DB67}" dt="2026-10-12T08:57:16.033" v="53" actId="20577"/>
          <ac:spMkLst>
            <pc:docMk/>
            <pc:sldMk cId="983572347" sldId="256"/>
            <ac:spMk id="4" creationId="{B2CA2278-3693-E2D0-9D5D-F914C1D8A27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BCE3A7E-C01D-95F3-953D-10924AFF7C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8DF76-461C-0DF9-C6AC-C76390BAB2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3582BA-7EFE-407E-89C4-0B93D6902EB6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73B6F2-060B-2A7D-7267-3DD694FDFB0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BA839-3ABC-5C0D-B49D-B8F36CE4D45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3285F1-9BFD-45D1-BC78-62ED228D70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704490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93DB3-DD50-4BCB-808F-056A97D70943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895A5-E90E-45A6-8EC9-92031BC7B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428985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1AA8A-0461-E3D2-B78A-78BA4BEFE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4A8B7-25F6-FC66-6BBD-59EEC98E1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08EC6-70D8-57A7-4958-EB39C4D20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75A61-AC31-040F-F754-9F799CDEE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B090F-A0DD-F788-C924-F8F11C7F2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646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D1550-720F-1551-7ECD-38E0A181E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52ED2-9EAE-3FC1-552D-936317F72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3D6D7-9C62-0BA4-ECCE-C7F1B498C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4C0DA-BD3E-2922-843E-052FCBAF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66839-9AC9-7FFA-6B9C-90E48BA13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347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1AA9B-5C3B-B473-97BC-C563A1B5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81002-C0AB-597C-017F-395D4D440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6A9F7-3A4B-FD87-C0E7-6309184F7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3DB98-A48F-F5EE-CCA5-1DE7A1AD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57016-015F-3B6C-A134-3212E7F6B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911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53EFD-CC5D-DB08-961B-C3B9356A7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4AC6C-EC53-1A3D-ABF6-B5B34FB17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CACC6C-4EC4-0CED-0818-7EAEC89451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06209-BD80-EEF0-1DDC-5C63F1DDA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34277-06EF-8234-188E-19A31C38A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DA4A4-6F1E-3530-0EF3-30D1912FC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319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302AC-976D-774F-026F-89DEEFBE9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03695-CC07-353B-DB24-4D620826C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9E3ED-3C4D-5DB7-3580-0044FCB88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9AA589-B8EB-B021-2764-A6606477B8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0EB89-042B-75BE-B3A3-8EF0E3348F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00D317-6560-763B-0171-5DCDF388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B9185F-70EF-DEBC-EA5D-4A445E84B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2E1051-F31E-D5D1-E18E-D686B9215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45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F6887-0403-6A89-E11C-79FDC369D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67A29C-DA86-EC2B-2852-2EAA34219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45625-7DFF-9CE8-3985-DFBBFC4FD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5EE1F-503A-BD55-1AFB-01B04AF48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740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5F3978-FE3A-4595-3568-DBE97412C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B05577-633A-F73F-F2EF-7CC15E881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29FA2-3A34-82F4-5298-1C3972E38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22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6A3D7-DCC9-3DBA-6701-3FFDCF597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5B413-97C6-02AF-ED0F-8E540975C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6371D3-C073-996F-A44C-FF2D185BC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4B48A-6110-CA23-CB80-3E94220A0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DB034-A781-2AE2-0F77-74C7AE9FF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4FA56-B522-EF1F-0376-62598D024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594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9E051-8572-1FE9-6391-B9EA65B33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23479F-ED9F-952E-3E3E-E780B30392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673381-BD8B-95D9-C784-123C42A6A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E1BDA-A36A-B539-4A4D-1884749C7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73645-DE86-EF56-EE24-EBF5D1A16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461E6-E567-3384-166A-3A5409247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011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9D13C-747B-5CE2-C2D9-9C5AB4800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3AD1A-CEE9-D8D7-CD69-52E7162B0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5284D-C200-2179-9F96-7F0CE1BF1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7A3B2-FA29-2320-C4FE-703F5D73F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4ED84-8891-7E35-ABFF-C1F1EA4A1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923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8F725E-4475-7435-3A50-D8944F08EF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7C3BB-411D-B43A-D535-F3D5BBF00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4230D-63A7-03DB-D233-64B38F577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348B5-6EAA-E750-9B01-50818773F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379E0-EF84-8A6D-5F3F-5FE9CDB77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332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352E5C-2F4B-37A6-16C6-3B82ED91B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995D9-963F-381A-9472-D3D568B2F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7D178-FF8C-8CF3-1B0A-A7E7FEE449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6C7B9-7CC0-4911-9AF6-AED46E45886F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02D80-5D6B-B4FF-EBA5-D3FE81A2DC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08575-0B25-2EE8-105C-FEB1BB797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477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8B8FA-9FD4-DF1E-8D05-F601315166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				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9FCA55D-A987-694D-E831-6201821D5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409" y="1376739"/>
            <a:ext cx="10972800" cy="5322011"/>
          </a:xfrm>
        </p:spPr>
        <p:txBody>
          <a:bodyPr>
            <a:noAutofit/>
          </a:bodyPr>
          <a:lstStyle/>
          <a:p>
            <a:r>
              <a:rPr lang="en-IN" sz="5400" dirty="0">
                <a:latin typeface="Trebuchet MS" panose="020B0603020202020204" pitchFamily="34" charset="0"/>
              </a:rPr>
              <a:t>Summer Training Presentation</a:t>
            </a:r>
            <a:endParaRPr lang="en-IN" sz="3200" b="1" dirty="0">
              <a:latin typeface="Trebuchet MS" panose="020B0603020202020204" pitchFamily="34" charset="0"/>
            </a:endParaRPr>
          </a:p>
          <a:p>
            <a:endParaRPr lang="en-IN" sz="3600" b="1" dirty="0">
              <a:latin typeface="Trebuchet MS" panose="020B0603020202020204" pitchFamily="34" charset="0"/>
            </a:endParaRPr>
          </a:p>
          <a:p>
            <a:r>
              <a:rPr lang="en-IN" sz="3200" b="1" dirty="0">
                <a:latin typeface="Trebuchet MS" panose="020B0603020202020204" pitchFamily="34" charset="0"/>
              </a:rPr>
              <a:t>House Price Prediction System: ML-Based Regression Using XGBoost</a:t>
            </a:r>
            <a:r>
              <a:rPr lang="en-IN" sz="3600" b="1" dirty="0"/>
              <a:t> </a:t>
            </a:r>
          </a:p>
          <a:p>
            <a:endParaRPr lang="en-IN" sz="3200" dirty="0"/>
          </a:p>
          <a:p>
            <a:pPr algn="l"/>
            <a:endParaRPr lang="en-IN" sz="2800" dirty="0"/>
          </a:p>
          <a:p>
            <a:endParaRPr lang="en-IN" dirty="0"/>
          </a:p>
          <a:p>
            <a:endParaRPr lang="en-IN" dirty="0"/>
          </a:p>
          <a:p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0DADA8-0C51-2EEC-0CF1-95C5C83F674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A21519-5B45-B4EB-1438-13D4194FE7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621119-736C-9442-32B2-785335AAC880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17E1CBB-AF57-3F2D-3AD0-7A6F5C29C0A9}"/>
              </a:ext>
            </a:extLst>
          </p:cNvPr>
          <p:cNvSpPr/>
          <p:nvPr/>
        </p:nvSpPr>
        <p:spPr>
          <a:xfrm>
            <a:off x="2301410" y="3959890"/>
            <a:ext cx="3708971" cy="20377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400" dirty="0">
                <a:latin typeface="Trebuchet MS" panose="020B0603020202020204" pitchFamily="34" charset="0"/>
              </a:rPr>
              <a:t>Gracy Srivastava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CA2278-3693-E2D0-9D5D-F914C1D8A271}"/>
              </a:ext>
            </a:extLst>
          </p:cNvPr>
          <p:cNvSpPr/>
          <p:nvPr/>
        </p:nvSpPr>
        <p:spPr>
          <a:xfrm>
            <a:off x="6600000" y="3959890"/>
            <a:ext cx="5100000" cy="203777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latin typeface="Trebuchet MS" panose="020B0603020202020204" pitchFamily="34" charset="0"/>
              </a:rPr>
              <a:t>AKTU Roll No</a:t>
            </a:r>
            <a:r>
              <a:rPr lang="en-US" sz="2400">
                <a:latin typeface="Trebuchet MS" panose="020B0603020202020204" pitchFamily="34" charset="0"/>
              </a:rPr>
              <a:t>.: 2400100100196</a:t>
            </a:r>
            <a:endParaRPr lang="en-US" sz="24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572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8395E-D611-AA84-9603-DC0ABB701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ADB9452-4841-5900-0A13-8D4F4692FC8F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DF0CF307-3F72-574E-8244-07B1DE4FD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Outline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9A7C4B76-F98F-9764-43EB-3E3BF4F8E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10515600" cy="376224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IN" sz="2400" b="0" i="0" dirty="0">
                <a:latin typeface="Trebuchet MS" panose="020B0603020202020204" pitchFamily="34" charset="0"/>
              </a:rPr>
              <a:t>Introduction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IN" sz="2400" b="0" i="0" dirty="0">
                <a:latin typeface="Trebuchet MS" panose="020B0603020202020204" pitchFamily="34" charset="0"/>
              </a:rPr>
              <a:t>Objectives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IN" sz="2400" b="0" i="0" dirty="0">
                <a:latin typeface="Trebuchet MS" panose="020B0603020202020204" pitchFamily="34" charset="0"/>
              </a:rPr>
              <a:t>Methodology Used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IN" sz="2400" b="0" i="0" dirty="0">
                <a:latin typeface="Trebuchet MS" panose="020B0603020202020204" pitchFamily="34" charset="0"/>
              </a:rPr>
              <a:t>Data Flow Diagrams (Level 0 and Level 1)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IN" sz="2400" b="0" i="0" dirty="0">
                <a:latin typeface="Trebuchet MS" panose="020B0603020202020204" pitchFamily="34" charset="0"/>
              </a:rPr>
              <a:t>Implementation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IN" sz="2400" b="0" i="0" dirty="0">
                <a:latin typeface="Trebuchet MS" panose="020B0603020202020204" pitchFamily="34" charset="0"/>
              </a:rPr>
              <a:t>Conclusion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IN" sz="2400" b="0" i="0" dirty="0">
                <a:latin typeface="Trebuchet MS" panose="020B0603020202020204" pitchFamily="34" charset="0"/>
              </a:rPr>
              <a:t>References</a:t>
            </a: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93AFAF28-1497-1B30-B572-F6CBEF41A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0152F6-A079-342A-72A9-9C63EE555C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B8C9FF8-75AE-FC60-0ACA-B8FAFC66720B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940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47C71-DE9E-8528-C01E-ADC1A46BF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690606DC-41B8-1E10-E67A-B6E250C5242D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EE97636-D936-7382-0E0D-A61B61017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Introduction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CA456588-EAF7-F166-DA41-437D69FDE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10515600" cy="4491945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IN" sz="2200" b="0" i="0" dirty="0">
                <a:latin typeface="Trebuchet MS" panose="020B0603020202020204" pitchFamily="34" charset="0"/>
              </a:rPr>
              <a:t>Buying or selling a house needs a fair price, but manual estimates are slow and subjective.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IN" sz="2200" b="0" i="0" dirty="0">
                <a:latin typeface="Trebuchet MS" panose="020B0603020202020204" pitchFamily="34" charset="0"/>
              </a:rPr>
              <a:t>House price depends on many factors such as quality, living area, basement and garage.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IN" sz="2200" b="0" i="0" dirty="0">
                <a:latin typeface="Trebuchet MS" panose="020B0603020202020204" pitchFamily="34" charset="0"/>
              </a:rPr>
              <a:t>This project predicts the sale price of a house from its features using machine learning.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IN" sz="2200" b="0" i="0" dirty="0">
                <a:latin typeface="Trebuchet MS" panose="020B0603020202020204" pitchFamily="34" charset="0"/>
              </a:rPr>
              <a:t>It uses the Kaggle House Prices dataset: 1,460 records and 81 features.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IN" sz="2200" b="0" i="0" dirty="0">
                <a:latin typeface="Trebuchet MS" panose="020B0603020202020204" pitchFamily="34" charset="0"/>
              </a:rPr>
              <a:t>Linear Regression, Random Forest and XGBoost are compared. The best model runs in a Streamlit app.</a:t>
            </a: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A376CD85-B5AF-EEF0-EED3-DA579B988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B048C48-19D0-B154-6352-AF0418FCF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5C6D13B-7E07-8C37-D1B0-F323D060342D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485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BDF9C-84FC-7749-B01D-2F2D9E8A4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E3DE789-FF44-6F5F-7015-C7478428CB32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AFBB1A5-D565-31E4-6453-198364F34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Objectives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787C0CD0-8BC4-5A63-12AD-364645758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10515600" cy="4491945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IN" sz="2200" b="0" i="0" dirty="0">
                <a:latin typeface="Trebuchet MS" panose="020B0603020202020204" pitchFamily="34" charset="0"/>
              </a:rPr>
              <a:t>Collect and understand the Kaggle House Prices dataset.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IN" sz="2200" b="0" i="0" dirty="0">
                <a:latin typeface="Trebuchet MS" panose="020B0603020202020204" pitchFamily="34" charset="0"/>
              </a:rPr>
              <a:t>Clean the data and study key patterns with EDA.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IN" sz="2200" b="0" i="0" dirty="0">
                <a:latin typeface="Trebuchet MS" panose="020B0603020202020204" pitchFamily="34" charset="0"/>
              </a:rPr>
              <a:t>Create new features: TotalSF, HouseAge and TotalBath.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IN" sz="2200" b="0" i="0" dirty="0">
                <a:latin typeface="Trebuchet MS" panose="020B0603020202020204" pitchFamily="34" charset="0"/>
              </a:rPr>
              <a:t>Train 3 models and compare them using MAE, RMSE and R-squared.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IN" sz="2200" b="0" i="0" dirty="0">
                <a:latin typeface="Trebuchet MS" panose="020B0603020202020204" pitchFamily="34" charset="0"/>
              </a:rPr>
              <a:t>Deploy the best model as an interactive Streamlit web app.</a:t>
            </a: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8A98B168-69BD-F030-901E-FCA228A0D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0EBE21F-E3F4-3502-03F3-2485723051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4A95CCD-FAEE-5F21-1300-761968C5C11C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725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1F2EF-3D8E-26DF-0B25-96040AEDA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F9923E21-A5E8-9FA6-C767-4CD32E84250A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1CD239A6-9BE3-556E-BDE6-9127FAAEA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Methodology Used</a:t>
            </a:r>
            <a:endParaRPr lang="en-IN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766D554F-754A-1E29-3ADF-C021AB95C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946C0CA-D25D-E5D0-9009-59AFFA163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35A781-EF00-8A63-6FB9-E56AF5533D34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Card 201"/>
          <p:cNvSpPr/>
          <p:nvPr/>
        </p:nvSpPr>
        <p:spPr>
          <a:xfrm>
            <a:off x="838505" y="1920240"/>
            <a:ext cx="3322015" cy="2011680"/>
          </a:xfrm>
          <a:prstGeom prst="roundRect">
            <a:avLst>
              <a:gd name="adj" fmla="val 12000"/>
            </a:avLst>
          </a:prstGeom>
          <a:solidFill>
            <a:srgbClr val="E6EBF7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endParaRPr lang="en-IN" dirty="0"/>
          </a:p>
        </p:txBody>
      </p:sp>
      <p:sp>
        <p:nvSpPr>
          <p:cNvPr id="202" name="Badge 202"/>
          <p:cNvSpPr/>
          <p:nvPr/>
        </p:nvSpPr>
        <p:spPr>
          <a:xfrm>
            <a:off x="975665" y="2057400"/>
            <a:ext cx="457200" cy="457200"/>
          </a:xfrm>
          <a:prstGeom prst="ellipse">
            <a:avLst/>
          </a:prstGeom>
          <a:solidFill>
            <a:srgbClr val="1F2F6B"/>
          </a:solidFill>
          <a:ln>
            <a:noFill/>
          </a:ln>
        </p:spPr>
        <p:txBody>
          <a:bodyPr wrap="square" lIns="0" tIns="45720" rIns="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  <a:latin typeface="Trebuchet MS" panose="020B0603020202020204" pitchFamily="34" charset="0"/>
              </a:rPr>
              <a:t>1</a:t>
            </a:r>
          </a:p>
        </p:txBody>
      </p:sp>
      <p:sp>
        <p:nvSpPr>
          <p:cNvPr id="203" name="Step title 203"/>
          <p:cNvSpPr txBox="1"/>
          <p:nvPr/>
        </p:nvSpPr>
        <p:spPr>
          <a:xfrm>
            <a:off x="1524305" y="2029968"/>
            <a:ext cx="2544775" cy="51206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1F2F6B"/>
                </a:solidFill>
                <a:latin typeface="Trebuchet MS" panose="020B0603020202020204" pitchFamily="34" charset="0"/>
              </a:rPr>
              <a:t>Collect Data</a:t>
            </a:r>
          </a:p>
        </p:txBody>
      </p:sp>
      <p:sp>
        <p:nvSpPr>
          <p:cNvPr id="204" name="Step text 204"/>
          <p:cNvSpPr txBox="1"/>
          <p:nvPr/>
        </p:nvSpPr>
        <p:spPr>
          <a:xfrm>
            <a:off x="975665" y="2651760"/>
            <a:ext cx="3047695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Kaggle House Prices dataset: 1,460 records and 81 features.</a:t>
            </a:r>
          </a:p>
        </p:txBody>
      </p:sp>
      <p:sp>
        <p:nvSpPr>
          <p:cNvPr id="205" name="Card 205"/>
          <p:cNvSpPr/>
          <p:nvPr/>
        </p:nvSpPr>
        <p:spPr>
          <a:xfrm>
            <a:off x="4434840" y="1920240"/>
            <a:ext cx="3322015" cy="2011680"/>
          </a:xfrm>
          <a:prstGeom prst="roundRect">
            <a:avLst>
              <a:gd name="adj" fmla="val 12000"/>
            </a:avLst>
          </a:prstGeom>
          <a:solidFill>
            <a:srgbClr val="E6EBF7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endParaRPr lang="en-IN" dirty="0"/>
          </a:p>
        </p:txBody>
      </p:sp>
      <p:sp>
        <p:nvSpPr>
          <p:cNvPr id="206" name="Badge 206"/>
          <p:cNvSpPr/>
          <p:nvPr/>
        </p:nvSpPr>
        <p:spPr>
          <a:xfrm>
            <a:off x="4572000" y="2057400"/>
            <a:ext cx="457200" cy="457200"/>
          </a:xfrm>
          <a:prstGeom prst="ellipse">
            <a:avLst/>
          </a:prstGeom>
          <a:solidFill>
            <a:srgbClr val="1F2F6B"/>
          </a:solidFill>
          <a:ln>
            <a:noFill/>
          </a:ln>
        </p:spPr>
        <p:txBody>
          <a:bodyPr wrap="square" lIns="0" tIns="45720" rIns="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  <a:latin typeface="Trebuchet MS" panose="020B0603020202020204" pitchFamily="34" charset="0"/>
              </a:rPr>
              <a:t>2</a:t>
            </a:r>
          </a:p>
        </p:txBody>
      </p:sp>
      <p:sp>
        <p:nvSpPr>
          <p:cNvPr id="207" name="Step title 207"/>
          <p:cNvSpPr txBox="1"/>
          <p:nvPr/>
        </p:nvSpPr>
        <p:spPr>
          <a:xfrm>
            <a:off x="5120640" y="2029968"/>
            <a:ext cx="2544775" cy="51206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1F2F6B"/>
                </a:solidFill>
                <a:latin typeface="Trebuchet MS" panose="020B0603020202020204" pitchFamily="34" charset="0"/>
              </a:rPr>
              <a:t>Clean Data</a:t>
            </a:r>
          </a:p>
        </p:txBody>
      </p:sp>
      <p:sp>
        <p:nvSpPr>
          <p:cNvPr id="208" name="Step text 208"/>
          <p:cNvSpPr txBox="1"/>
          <p:nvPr/>
        </p:nvSpPr>
        <p:spPr>
          <a:xfrm>
            <a:off x="4572000" y="2651760"/>
            <a:ext cx="3047695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Fill missing values and remove price outliers (1,460 to 1,399 records).</a:t>
            </a:r>
          </a:p>
        </p:txBody>
      </p:sp>
      <p:sp>
        <p:nvSpPr>
          <p:cNvPr id="209" name="Card 209"/>
          <p:cNvSpPr/>
          <p:nvPr/>
        </p:nvSpPr>
        <p:spPr>
          <a:xfrm>
            <a:off x="8031175" y="1920240"/>
            <a:ext cx="3322015" cy="2011680"/>
          </a:xfrm>
          <a:prstGeom prst="roundRect">
            <a:avLst>
              <a:gd name="adj" fmla="val 12000"/>
            </a:avLst>
          </a:prstGeom>
          <a:solidFill>
            <a:srgbClr val="E6EBF7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endParaRPr lang="en-IN" dirty="0"/>
          </a:p>
        </p:txBody>
      </p:sp>
      <p:sp>
        <p:nvSpPr>
          <p:cNvPr id="210" name="Badge 210"/>
          <p:cNvSpPr/>
          <p:nvPr/>
        </p:nvSpPr>
        <p:spPr>
          <a:xfrm>
            <a:off x="8168335" y="2057400"/>
            <a:ext cx="457200" cy="457200"/>
          </a:xfrm>
          <a:prstGeom prst="ellipse">
            <a:avLst/>
          </a:prstGeom>
          <a:solidFill>
            <a:srgbClr val="1F2F6B"/>
          </a:solidFill>
          <a:ln>
            <a:noFill/>
          </a:ln>
        </p:spPr>
        <p:txBody>
          <a:bodyPr wrap="square" lIns="0" tIns="45720" rIns="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  <a:latin typeface="Trebuchet MS" panose="020B0603020202020204" pitchFamily="34" charset="0"/>
              </a:rPr>
              <a:t>3</a:t>
            </a:r>
          </a:p>
        </p:txBody>
      </p:sp>
      <p:sp>
        <p:nvSpPr>
          <p:cNvPr id="211" name="Step title 211"/>
          <p:cNvSpPr txBox="1"/>
          <p:nvPr/>
        </p:nvSpPr>
        <p:spPr>
          <a:xfrm>
            <a:off x="8716975" y="2029968"/>
            <a:ext cx="2544775" cy="51206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1F2F6B"/>
                </a:solidFill>
                <a:latin typeface="Trebuchet MS" panose="020B0603020202020204" pitchFamily="34" charset="0"/>
              </a:rPr>
              <a:t>Explore Data</a:t>
            </a:r>
          </a:p>
        </p:txBody>
      </p:sp>
      <p:sp>
        <p:nvSpPr>
          <p:cNvPr id="212" name="Step text 212"/>
          <p:cNvSpPr txBox="1"/>
          <p:nvPr/>
        </p:nvSpPr>
        <p:spPr>
          <a:xfrm>
            <a:off x="8168335" y="2651760"/>
            <a:ext cx="3047695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Correlation heatmap and scatter plots. OverallQual (0.79) is the top predictor.</a:t>
            </a:r>
          </a:p>
        </p:txBody>
      </p:sp>
      <p:sp>
        <p:nvSpPr>
          <p:cNvPr id="213" name="Card 213"/>
          <p:cNvSpPr/>
          <p:nvPr/>
        </p:nvSpPr>
        <p:spPr>
          <a:xfrm>
            <a:off x="838505" y="4160520"/>
            <a:ext cx="3322015" cy="2011680"/>
          </a:xfrm>
          <a:prstGeom prst="roundRect">
            <a:avLst>
              <a:gd name="adj" fmla="val 12000"/>
            </a:avLst>
          </a:prstGeom>
          <a:solidFill>
            <a:srgbClr val="E6EBF7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endParaRPr lang="en-IN" dirty="0"/>
          </a:p>
        </p:txBody>
      </p:sp>
      <p:sp>
        <p:nvSpPr>
          <p:cNvPr id="214" name="Badge 214"/>
          <p:cNvSpPr/>
          <p:nvPr/>
        </p:nvSpPr>
        <p:spPr>
          <a:xfrm>
            <a:off x="975665" y="4297680"/>
            <a:ext cx="457200" cy="457200"/>
          </a:xfrm>
          <a:prstGeom prst="ellipse">
            <a:avLst/>
          </a:prstGeom>
          <a:solidFill>
            <a:srgbClr val="1F2F6B"/>
          </a:solidFill>
          <a:ln>
            <a:noFill/>
          </a:ln>
        </p:spPr>
        <p:txBody>
          <a:bodyPr wrap="square" lIns="0" tIns="45720" rIns="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  <a:latin typeface="Trebuchet MS" panose="020B0603020202020204" pitchFamily="34" charset="0"/>
              </a:rPr>
              <a:t>4</a:t>
            </a:r>
          </a:p>
        </p:txBody>
      </p:sp>
      <p:sp>
        <p:nvSpPr>
          <p:cNvPr id="215" name="Step title 215"/>
          <p:cNvSpPr txBox="1"/>
          <p:nvPr/>
        </p:nvSpPr>
        <p:spPr>
          <a:xfrm>
            <a:off x="1524305" y="4270248"/>
            <a:ext cx="2544775" cy="51206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1F2F6B"/>
                </a:solidFill>
                <a:latin typeface="Trebuchet MS" panose="020B0603020202020204" pitchFamily="34" charset="0"/>
              </a:rPr>
              <a:t>Add Features</a:t>
            </a:r>
          </a:p>
        </p:txBody>
      </p:sp>
      <p:sp>
        <p:nvSpPr>
          <p:cNvPr id="216" name="Step text 216"/>
          <p:cNvSpPr txBox="1"/>
          <p:nvPr/>
        </p:nvSpPr>
        <p:spPr>
          <a:xfrm>
            <a:off x="975665" y="4892040"/>
            <a:ext cx="3047695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Create TotalSF, HouseAge and TotalBath. Select the top 20 features.</a:t>
            </a:r>
          </a:p>
        </p:txBody>
      </p:sp>
      <p:sp>
        <p:nvSpPr>
          <p:cNvPr id="217" name="Card 217"/>
          <p:cNvSpPr/>
          <p:nvPr/>
        </p:nvSpPr>
        <p:spPr>
          <a:xfrm>
            <a:off x="4434840" y="4160520"/>
            <a:ext cx="3322015" cy="2011680"/>
          </a:xfrm>
          <a:prstGeom prst="roundRect">
            <a:avLst>
              <a:gd name="adj" fmla="val 12000"/>
            </a:avLst>
          </a:prstGeom>
          <a:solidFill>
            <a:srgbClr val="E6EBF7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endParaRPr lang="en-IN" dirty="0"/>
          </a:p>
        </p:txBody>
      </p:sp>
      <p:sp>
        <p:nvSpPr>
          <p:cNvPr id="218" name="Badge 218"/>
          <p:cNvSpPr/>
          <p:nvPr/>
        </p:nvSpPr>
        <p:spPr>
          <a:xfrm>
            <a:off x="4572000" y="4297680"/>
            <a:ext cx="457200" cy="457200"/>
          </a:xfrm>
          <a:prstGeom prst="ellipse">
            <a:avLst/>
          </a:prstGeom>
          <a:solidFill>
            <a:srgbClr val="1F2F6B"/>
          </a:solidFill>
          <a:ln>
            <a:noFill/>
          </a:ln>
        </p:spPr>
        <p:txBody>
          <a:bodyPr wrap="square" lIns="0" tIns="45720" rIns="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  <a:latin typeface="Trebuchet MS" panose="020B0603020202020204" pitchFamily="34" charset="0"/>
              </a:rPr>
              <a:t>5</a:t>
            </a:r>
          </a:p>
        </p:txBody>
      </p:sp>
      <p:sp>
        <p:nvSpPr>
          <p:cNvPr id="219" name="Step title 219"/>
          <p:cNvSpPr txBox="1"/>
          <p:nvPr/>
        </p:nvSpPr>
        <p:spPr>
          <a:xfrm>
            <a:off x="5120640" y="4270248"/>
            <a:ext cx="2544775" cy="51206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1F2F6B"/>
                </a:solidFill>
                <a:latin typeface="Trebuchet MS" panose="020B0603020202020204" pitchFamily="34" charset="0"/>
              </a:rPr>
              <a:t>Encode and Scale</a:t>
            </a:r>
          </a:p>
        </p:txBody>
      </p:sp>
      <p:sp>
        <p:nvSpPr>
          <p:cNvPr id="220" name="Step text 220"/>
          <p:cNvSpPr txBox="1"/>
          <p:nvPr/>
        </p:nvSpPr>
        <p:spPr>
          <a:xfrm>
            <a:off x="4572000" y="4892040"/>
            <a:ext cx="3047695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Label-encode 43 categorical columns. Apply StandardScaler for Linear Regression.</a:t>
            </a:r>
          </a:p>
        </p:txBody>
      </p:sp>
      <p:sp>
        <p:nvSpPr>
          <p:cNvPr id="221" name="Card 221"/>
          <p:cNvSpPr/>
          <p:nvPr/>
        </p:nvSpPr>
        <p:spPr>
          <a:xfrm>
            <a:off x="8031175" y="4160520"/>
            <a:ext cx="3322015" cy="2011680"/>
          </a:xfrm>
          <a:prstGeom prst="roundRect">
            <a:avLst>
              <a:gd name="adj" fmla="val 12000"/>
            </a:avLst>
          </a:prstGeom>
          <a:solidFill>
            <a:srgbClr val="E6EBF7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endParaRPr lang="en-IN" dirty="0"/>
          </a:p>
        </p:txBody>
      </p:sp>
      <p:sp>
        <p:nvSpPr>
          <p:cNvPr id="222" name="Badge 222"/>
          <p:cNvSpPr/>
          <p:nvPr/>
        </p:nvSpPr>
        <p:spPr>
          <a:xfrm>
            <a:off x="8168335" y="4297680"/>
            <a:ext cx="457200" cy="457200"/>
          </a:xfrm>
          <a:prstGeom prst="ellipse">
            <a:avLst/>
          </a:prstGeom>
          <a:solidFill>
            <a:srgbClr val="1F2F6B"/>
          </a:solidFill>
          <a:ln>
            <a:noFill/>
          </a:ln>
        </p:spPr>
        <p:txBody>
          <a:bodyPr wrap="square" lIns="0" tIns="45720" rIns="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  <a:latin typeface="Trebuchet MS" panose="020B0603020202020204" pitchFamily="34" charset="0"/>
              </a:rPr>
              <a:t>6</a:t>
            </a:r>
          </a:p>
        </p:txBody>
      </p:sp>
      <p:sp>
        <p:nvSpPr>
          <p:cNvPr id="223" name="Step title 223"/>
          <p:cNvSpPr txBox="1"/>
          <p:nvPr/>
        </p:nvSpPr>
        <p:spPr>
          <a:xfrm>
            <a:off x="8716975" y="4270248"/>
            <a:ext cx="2544775" cy="51206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1F2F6B"/>
                </a:solidFill>
                <a:latin typeface="Trebuchet MS" panose="020B0603020202020204" pitchFamily="34" charset="0"/>
              </a:rPr>
              <a:t>Train Models</a:t>
            </a:r>
          </a:p>
        </p:txBody>
      </p:sp>
      <p:sp>
        <p:nvSpPr>
          <p:cNvPr id="224" name="Step text 224"/>
          <p:cNvSpPr txBox="1"/>
          <p:nvPr/>
        </p:nvSpPr>
        <p:spPr>
          <a:xfrm>
            <a:off x="8168335" y="4892040"/>
            <a:ext cx="3047695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Train 3 models: Linear Regression, Random Forest and XGBoost.</a:t>
            </a:r>
          </a:p>
        </p:txBody>
      </p:sp>
    </p:spTree>
    <p:extLst>
      <p:ext uri="{BB962C8B-B14F-4D97-AF65-F5344CB8AC3E}">
        <p14:creationId xmlns:p14="http://schemas.microsoft.com/office/powerpoint/2010/main" val="3995706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1F2EF-3D8E-26DF-0B25-96040AEDA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F9923E21-A5E8-9FA6-C767-4CD32E84250A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1CD239A6-9BE3-556E-BDE6-9127FAAEA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Data Flow Diagram: Level 0</a:t>
            </a:r>
            <a:endParaRPr lang="en-IN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766D554F-754A-1E29-3ADF-C021AB95C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946C0CA-D25D-E5D0-9009-59AFFA163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35A781-EF00-8A63-6FB9-E56AF5533D34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Entity 225"/>
          <p:cNvSpPr/>
          <p:nvPr/>
        </p:nvSpPr>
        <p:spPr>
          <a:xfrm>
            <a:off x="838505" y="3154680"/>
            <a:ext cx="2194560" cy="1371600"/>
          </a:xfrm>
          <a:prstGeom prst="rect">
            <a:avLst/>
          </a:prstGeom>
          <a:solidFill>
            <a:srgbClr val="1F2F6B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1800" b="1" i="0" dirty="0">
                <a:solidFill>
                  <a:srgbClr val="FFFFFF"/>
                </a:solidFill>
                <a:latin typeface="Trebuchet MS" panose="020B0603020202020204" pitchFamily="34" charset="0"/>
              </a:rPr>
              <a:t>User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0" i="0" dirty="0">
                <a:solidFill>
                  <a:srgbClr val="FFFFFF"/>
                </a:solidFill>
                <a:latin typeface="Trebuchet MS" panose="020B0603020202020204" pitchFamily="34" charset="0"/>
              </a:rPr>
              <a:t>Enters house details (quality, area, garage)</a:t>
            </a:r>
          </a:p>
        </p:txBody>
      </p:sp>
      <p:sp>
        <p:nvSpPr>
          <p:cNvPr id="226" name="Process 226"/>
          <p:cNvSpPr/>
          <p:nvPr/>
        </p:nvSpPr>
        <p:spPr>
          <a:xfrm>
            <a:off x="4480560" y="2331720"/>
            <a:ext cx="3291840" cy="3017520"/>
          </a:xfrm>
          <a:prstGeom prst="ellipse">
            <a:avLst/>
          </a:prstGeom>
          <a:solidFill>
            <a:srgbClr val="E6EBF7"/>
          </a:solidFill>
          <a:ln w="15875">
            <a:solidFill>
              <a:srgbClr val="1F2F6B"/>
            </a:solidFill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2000" b="1" i="0" dirty="0">
                <a:solidFill>
                  <a:srgbClr val="1F2F6B"/>
                </a:solidFill>
                <a:latin typeface="Trebuchet MS" panose="020B0603020202020204" pitchFamily="34" charset="0"/>
              </a:rPr>
              <a:t>House Price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Prediction System</a:t>
            </a:r>
          </a:p>
        </p:txBody>
      </p:sp>
      <p:sp>
        <p:nvSpPr>
          <p:cNvPr id="227" name="Entity 227"/>
          <p:cNvSpPr/>
          <p:nvPr/>
        </p:nvSpPr>
        <p:spPr>
          <a:xfrm>
            <a:off x="9144000" y="3154680"/>
            <a:ext cx="2194560" cy="1371600"/>
          </a:xfrm>
          <a:prstGeom prst="rect">
            <a:avLst/>
          </a:prstGeom>
          <a:solidFill>
            <a:srgbClr val="1F2F6B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1800" b="1" i="0" dirty="0">
                <a:solidFill>
                  <a:srgbClr val="FFFFFF"/>
                </a:solidFill>
                <a:latin typeface="Trebuchet MS" panose="020B0603020202020204" pitchFamily="34" charset="0"/>
              </a:rPr>
              <a:t>Data Sources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0" i="0" dirty="0">
                <a:solidFill>
                  <a:srgbClr val="FFFFFF"/>
                </a:solidFill>
                <a:latin typeface="Trebuchet MS" panose="020B0603020202020204" pitchFamily="34" charset="0"/>
              </a:rPr>
              <a:t>Kaggle CSV dataset, trained XGBoost model</a:t>
            </a:r>
          </a:p>
        </p:txBody>
      </p:sp>
      <p:cxnSp>
        <p:nvCxnSpPr>
          <p:cNvPr id="228" name="Arrow 228"/>
          <p:cNvCxnSpPr/>
          <p:nvPr/>
        </p:nvCxnSpPr>
        <p:spPr>
          <a:xfrm>
            <a:off x="3063240" y="3520440"/>
            <a:ext cx="1508760" cy="0"/>
          </a:xfrm>
          <a:prstGeom prst="line">
            <a:avLst/>
          </a:prstGeom>
          <a:ln w="28575">
            <a:solidFill>
              <a:srgbClr val="1F2F6B"/>
            </a:solidFill>
            <a:tailEnd type="triangle" w="med" len="med"/>
          </a:ln>
        </p:spPr>
      </p:cxnSp>
      <p:sp>
        <p:nvSpPr>
          <p:cNvPr id="229" name="Flow label 229"/>
          <p:cNvSpPr txBox="1"/>
          <p:nvPr/>
        </p:nvSpPr>
        <p:spPr>
          <a:xfrm>
            <a:off x="3017520" y="2743200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b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House details</a:t>
            </a:r>
          </a:p>
        </p:txBody>
      </p:sp>
      <p:cxnSp>
        <p:nvCxnSpPr>
          <p:cNvPr id="230" name="Arrow 230"/>
          <p:cNvCxnSpPr/>
          <p:nvPr/>
        </p:nvCxnSpPr>
        <p:spPr>
          <a:xfrm flipH="1">
            <a:off x="3063240" y="4206240"/>
            <a:ext cx="1508760" cy="0"/>
          </a:xfrm>
          <a:prstGeom prst="line">
            <a:avLst/>
          </a:prstGeom>
          <a:ln w="28575">
            <a:solidFill>
              <a:srgbClr val="1F2F6B"/>
            </a:solidFill>
            <a:tailEnd type="triangle" w="med" len="med"/>
          </a:ln>
        </p:spPr>
      </p:cxnSp>
      <p:sp>
        <p:nvSpPr>
          <p:cNvPr id="231" name="Flow label 231"/>
          <p:cNvSpPr txBox="1"/>
          <p:nvPr/>
        </p:nvSpPr>
        <p:spPr>
          <a:xfrm>
            <a:off x="2971800" y="4251960"/>
            <a:ext cx="160020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Predicted sale price</a:t>
            </a:r>
          </a:p>
        </p:txBody>
      </p:sp>
      <p:cxnSp>
        <p:nvCxnSpPr>
          <p:cNvPr id="232" name="Arrow 232"/>
          <p:cNvCxnSpPr/>
          <p:nvPr/>
        </p:nvCxnSpPr>
        <p:spPr>
          <a:xfrm flipH="1">
            <a:off x="7680960" y="3840480"/>
            <a:ext cx="1444752" cy="0"/>
          </a:xfrm>
          <a:prstGeom prst="line">
            <a:avLst/>
          </a:prstGeom>
          <a:ln w="28575">
            <a:solidFill>
              <a:srgbClr val="1F2F6B"/>
            </a:solidFill>
            <a:tailEnd type="triangle" w="med" len="med"/>
          </a:ln>
        </p:spPr>
      </p:cxnSp>
      <p:sp>
        <p:nvSpPr>
          <p:cNvPr id="233" name="Flow label 233"/>
          <p:cNvSpPr txBox="1"/>
          <p:nvPr/>
        </p:nvSpPr>
        <p:spPr>
          <a:xfrm>
            <a:off x="7635240" y="2880360"/>
            <a:ext cx="1508760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b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Past sales, house features</a:t>
            </a:r>
          </a:p>
        </p:txBody>
      </p:sp>
      <p:sp>
        <p:nvSpPr>
          <p:cNvPr id="234" name="Caption 234"/>
          <p:cNvSpPr txBox="1"/>
          <p:nvPr/>
        </p:nvSpPr>
        <p:spPr>
          <a:xfrm>
            <a:off x="838505" y="56692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1" dirty="0">
                <a:solidFill>
                  <a:srgbClr val="222222"/>
                </a:solidFill>
                <a:latin typeface="Trebuchet MS" panose="020B0603020202020204" pitchFamily="34" charset="0"/>
              </a:rPr>
              <a:t>Level 0 (context diagram): the whole project is shown as one process, with its inputs and outputs.</a:t>
            </a:r>
          </a:p>
        </p:txBody>
      </p:sp>
    </p:spTree>
    <p:extLst>
      <p:ext uri="{BB962C8B-B14F-4D97-AF65-F5344CB8AC3E}">
        <p14:creationId xmlns:p14="http://schemas.microsoft.com/office/powerpoint/2010/main" val="3995706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1F2EF-3D8E-26DF-0B25-96040AEDA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F9923E21-A5E8-9FA6-C767-4CD32E84250A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1CD239A6-9BE3-556E-BDE6-9127FAAEA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Data Flow Diagram: Level 1</a:t>
            </a:r>
            <a:endParaRPr lang="en-IN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766D554F-754A-1E29-3ADF-C021AB95C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946C0CA-D25D-E5D0-9009-59AFFA163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35A781-EF00-8A63-6FB9-E56AF5533D34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Entity 235"/>
          <p:cNvSpPr/>
          <p:nvPr/>
        </p:nvSpPr>
        <p:spPr>
          <a:xfrm>
            <a:off x="838505" y="3154680"/>
            <a:ext cx="1554480" cy="1280160"/>
          </a:xfrm>
          <a:prstGeom prst="rect">
            <a:avLst/>
          </a:prstGeom>
          <a:solidFill>
            <a:srgbClr val="1F2F6B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  <a:latin typeface="Trebuchet MS" panose="020B0603020202020204" pitchFamily="34" charset="0"/>
              </a:rPr>
              <a:t>User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0" i="0" dirty="0">
                <a:solidFill>
                  <a:srgbClr val="FFFFFF"/>
                </a:solidFill>
                <a:latin typeface="Trebuchet MS" panose="020B0603020202020204" pitchFamily="34" charset="0"/>
              </a:rPr>
              <a:t>Enters house details</a:t>
            </a:r>
          </a:p>
        </p:txBody>
      </p:sp>
      <p:sp>
        <p:nvSpPr>
          <p:cNvPr id="236" name="Process 236"/>
          <p:cNvSpPr/>
          <p:nvPr/>
        </p:nvSpPr>
        <p:spPr>
          <a:xfrm>
            <a:off x="3078785" y="3154680"/>
            <a:ext cx="1554480" cy="1280160"/>
          </a:xfrm>
          <a:prstGeom prst="roundRect">
            <a:avLst>
              <a:gd name="adj" fmla="val 12000"/>
            </a:avLst>
          </a:prstGeom>
          <a:solidFill>
            <a:srgbClr val="E6EBF7"/>
          </a:solidFill>
          <a:ln w="15875">
            <a:solidFill>
              <a:srgbClr val="1F2F6B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1400" b="1" i="0" dirty="0">
                <a:solidFill>
                  <a:srgbClr val="1F2F6B"/>
                </a:solidFill>
                <a:latin typeface="Trebuchet MS" panose="020B0603020202020204" pitchFamily="34" charset="0"/>
              </a:rPr>
              <a:t>1.0 Data Cleaning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Fill missing values, remove outliers</a:t>
            </a:r>
          </a:p>
        </p:txBody>
      </p:sp>
      <p:sp>
        <p:nvSpPr>
          <p:cNvPr id="237" name="Process 237"/>
          <p:cNvSpPr/>
          <p:nvPr/>
        </p:nvSpPr>
        <p:spPr>
          <a:xfrm>
            <a:off x="5319065" y="3154680"/>
            <a:ext cx="1554480" cy="1280160"/>
          </a:xfrm>
          <a:prstGeom prst="roundRect">
            <a:avLst>
              <a:gd name="adj" fmla="val 12000"/>
            </a:avLst>
          </a:prstGeom>
          <a:solidFill>
            <a:srgbClr val="E6EBF7"/>
          </a:solidFill>
          <a:ln w="15875">
            <a:solidFill>
              <a:srgbClr val="1F2F6B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1400" b="1" i="0" dirty="0">
                <a:solidFill>
                  <a:srgbClr val="1F2F6B"/>
                </a:solidFill>
                <a:latin typeface="Trebuchet MS" panose="020B0603020202020204" pitchFamily="34" charset="0"/>
              </a:rPr>
              <a:t>2.0 Feature Engineering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Add TotalSF, HouseAge, TotalBath</a:t>
            </a:r>
          </a:p>
        </p:txBody>
      </p:sp>
      <p:sp>
        <p:nvSpPr>
          <p:cNvPr id="238" name="Process 238"/>
          <p:cNvSpPr/>
          <p:nvPr/>
        </p:nvSpPr>
        <p:spPr>
          <a:xfrm>
            <a:off x="7559345" y="3154680"/>
            <a:ext cx="1554480" cy="1280160"/>
          </a:xfrm>
          <a:prstGeom prst="roundRect">
            <a:avLst>
              <a:gd name="adj" fmla="val 12000"/>
            </a:avLst>
          </a:prstGeom>
          <a:solidFill>
            <a:srgbClr val="E6EBF7"/>
          </a:solidFill>
          <a:ln w="15875">
            <a:solidFill>
              <a:srgbClr val="1F2F6B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1400" b="1" i="0" dirty="0">
                <a:solidFill>
                  <a:srgbClr val="1F2F6B"/>
                </a:solidFill>
                <a:latin typeface="Trebuchet MS" panose="020B0603020202020204" pitchFamily="34" charset="0"/>
              </a:rPr>
              <a:t>3.0 XGBoost Prediction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Predict the price from the features</a:t>
            </a:r>
          </a:p>
        </p:txBody>
      </p:sp>
      <p:sp>
        <p:nvSpPr>
          <p:cNvPr id="239" name="Process 239"/>
          <p:cNvSpPr/>
          <p:nvPr/>
        </p:nvSpPr>
        <p:spPr>
          <a:xfrm>
            <a:off x="9799625" y="3154680"/>
            <a:ext cx="1554480" cy="1280160"/>
          </a:xfrm>
          <a:prstGeom prst="roundRect">
            <a:avLst>
              <a:gd name="adj" fmla="val 12000"/>
            </a:avLst>
          </a:prstGeom>
          <a:solidFill>
            <a:srgbClr val="E6EBF7"/>
          </a:solidFill>
          <a:ln w="15875">
            <a:solidFill>
              <a:srgbClr val="1F2F6B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1400" b="1" i="0" dirty="0">
                <a:solidFill>
                  <a:srgbClr val="1F2F6B"/>
                </a:solidFill>
                <a:latin typeface="Trebuchet MS" panose="020B0603020202020204" pitchFamily="34" charset="0"/>
              </a:rPr>
              <a:t>4.0 Price Output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Show the price in the Streamlit app</a:t>
            </a:r>
          </a:p>
        </p:txBody>
      </p:sp>
      <p:sp>
        <p:nvSpPr>
          <p:cNvPr id="240" name="Store 240"/>
          <p:cNvSpPr/>
          <p:nvPr/>
        </p:nvSpPr>
        <p:spPr>
          <a:xfrm>
            <a:off x="3078785" y="1783080"/>
            <a:ext cx="1554480" cy="777240"/>
          </a:xfrm>
          <a:prstGeom prst="rect">
            <a:avLst/>
          </a:prstGeom>
          <a:solidFill>
            <a:srgbClr val="F1F3F8"/>
          </a:solidFill>
          <a:ln w="15875">
            <a:solidFill>
              <a:srgbClr val="94A3B8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i="0" dirty="0">
                <a:solidFill>
                  <a:srgbClr val="222222"/>
                </a:solidFill>
                <a:latin typeface="Trebuchet MS" panose="020B0603020202020204" pitchFamily="34" charset="0"/>
              </a:rPr>
              <a:t>D1 Kaggle Dataset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(CSV)</a:t>
            </a:r>
          </a:p>
        </p:txBody>
      </p:sp>
      <p:cxnSp>
        <p:nvCxnSpPr>
          <p:cNvPr id="241" name="Arrow 241"/>
          <p:cNvCxnSpPr/>
          <p:nvPr/>
        </p:nvCxnSpPr>
        <p:spPr>
          <a:xfrm>
            <a:off x="3856025" y="2578608"/>
            <a:ext cx="0" cy="548640"/>
          </a:xfrm>
          <a:prstGeom prst="line">
            <a:avLst/>
          </a:prstGeom>
          <a:ln w="28575">
            <a:solidFill>
              <a:srgbClr val="1F2F6B"/>
            </a:solidFill>
            <a:tailEnd type="triangle" w="med" len="med"/>
          </a:ln>
        </p:spPr>
      </p:cxnSp>
      <p:sp>
        <p:nvSpPr>
          <p:cNvPr id="242" name="Store 242"/>
          <p:cNvSpPr/>
          <p:nvPr/>
        </p:nvSpPr>
        <p:spPr>
          <a:xfrm>
            <a:off x="5319065" y="1783080"/>
            <a:ext cx="1554480" cy="777240"/>
          </a:xfrm>
          <a:prstGeom prst="rect">
            <a:avLst/>
          </a:prstGeom>
          <a:solidFill>
            <a:srgbClr val="F1F3F8"/>
          </a:solidFill>
          <a:ln w="15875">
            <a:solidFill>
              <a:srgbClr val="94A3B8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i="0" dirty="0">
                <a:solidFill>
                  <a:srgbClr val="222222"/>
                </a:solidFill>
                <a:latin typeface="Trebuchet MS" panose="020B0603020202020204" pitchFamily="34" charset="0"/>
              </a:rPr>
              <a:t>D2 Trained Model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+ scaler</a:t>
            </a:r>
          </a:p>
        </p:txBody>
      </p:sp>
      <p:cxnSp>
        <p:nvCxnSpPr>
          <p:cNvPr id="243" name="Arrow 243"/>
          <p:cNvCxnSpPr/>
          <p:nvPr/>
        </p:nvCxnSpPr>
        <p:spPr>
          <a:xfrm>
            <a:off x="6096305" y="2578608"/>
            <a:ext cx="0" cy="548640"/>
          </a:xfrm>
          <a:prstGeom prst="line">
            <a:avLst/>
          </a:prstGeom>
          <a:ln w="28575">
            <a:solidFill>
              <a:srgbClr val="1F2F6B"/>
            </a:solidFill>
            <a:tailEnd type="triangle" w="med" len="med"/>
          </a:ln>
        </p:spPr>
      </p:cxnSp>
      <p:sp>
        <p:nvSpPr>
          <p:cNvPr id="244" name="Store 244"/>
          <p:cNvSpPr/>
          <p:nvPr/>
        </p:nvSpPr>
        <p:spPr>
          <a:xfrm>
            <a:off x="9799625" y="1783080"/>
            <a:ext cx="1554480" cy="777240"/>
          </a:xfrm>
          <a:prstGeom prst="rect">
            <a:avLst/>
          </a:prstGeom>
          <a:solidFill>
            <a:srgbClr val="F1F3F8"/>
          </a:solidFill>
          <a:ln w="15875">
            <a:solidFill>
              <a:srgbClr val="94A3B8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i="0" dirty="0">
                <a:solidFill>
                  <a:srgbClr val="222222"/>
                </a:solidFill>
                <a:latin typeface="Trebuchet MS" panose="020B0603020202020204" pitchFamily="34" charset="0"/>
              </a:rPr>
              <a:t>D3 Top 20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features</a:t>
            </a:r>
          </a:p>
        </p:txBody>
      </p:sp>
      <p:cxnSp>
        <p:nvCxnSpPr>
          <p:cNvPr id="245" name="Arrow 245"/>
          <p:cNvCxnSpPr/>
          <p:nvPr/>
        </p:nvCxnSpPr>
        <p:spPr>
          <a:xfrm>
            <a:off x="10576865" y="2578608"/>
            <a:ext cx="0" cy="548640"/>
          </a:xfrm>
          <a:prstGeom prst="line">
            <a:avLst/>
          </a:prstGeom>
          <a:ln w="28575">
            <a:solidFill>
              <a:srgbClr val="1F2F6B"/>
            </a:solidFill>
            <a:tailEnd type="triangle" w="med" len="med"/>
          </a:ln>
        </p:spPr>
      </p:cxnSp>
      <p:cxnSp>
        <p:nvCxnSpPr>
          <p:cNvPr id="246" name="Arrow 246"/>
          <p:cNvCxnSpPr/>
          <p:nvPr/>
        </p:nvCxnSpPr>
        <p:spPr>
          <a:xfrm>
            <a:off x="2420417" y="3794760"/>
            <a:ext cx="630936" cy="0"/>
          </a:xfrm>
          <a:prstGeom prst="line">
            <a:avLst/>
          </a:prstGeom>
          <a:ln w="28575">
            <a:solidFill>
              <a:srgbClr val="1F2F6B"/>
            </a:solidFill>
            <a:tailEnd type="triangle" w="med" len="med"/>
          </a:ln>
        </p:spPr>
      </p:cxnSp>
      <p:sp>
        <p:nvSpPr>
          <p:cNvPr id="247" name="Flow label 247"/>
          <p:cNvSpPr txBox="1"/>
          <p:nvPr/>
        </p:nvSpPr>
        <p:spPr>
          <a:xfrm>
            <a:off x="2374697" y="3227832"/>
            <a:ext cx="722376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b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inputs</a:t>
            </a:r>
          </a:p>
        </p:txBody>
      </p:sp>
      <p:cxnSp>
        <p:nvCxnSpPr>
          <p:cNvPr id="248" name="Arrow 248"/>
          <p:cNvCxnSpPr/>
          <p:nvPr/>
        </p:nvCxnSpPr>
        <p:spPr>
          <a:xfrm>
            <a:off x="4660697" y="3794760"/>
            <a:ext cx="630936" cy="0"/>
          </a:xfrm>
          <a:prstGeom prst="line">
            <a:avLst/>
          </a:prstGeom>
          <a:ln w="28575">
            <a:solidFill>
              <a:srgbClr val="1F2F6B"/>
            </a:solidFill>
            <a:tailEnd type="triangle" w="med" len="med"/>
          </a:ln>
        </p:spPr>
      </p:cxnSp>
      <p:sp>
        <p:nvSpPr>
          <p:cNvPr id="249" name="Flow label 249"/>
          <p:cNvSpPr txBox="1"/>
          <p:nvPr/>
        </p:nvSpPr>
        <p:spPr>
          <a:xfrm>
            <a:off x="4614977" y="3227832"/>
            <a:ext cx="722376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b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clean data</a:t>
            </a:r>
          </a:p>
        </p:txBody>
      </p:sp>
      <p:cxnSp>
        <p:nvCxnSpPr>
          <p:cNvPr id="250" name="Arrow 250"/>
          <p:cNvCxnSpPr/>
          <p:nvPr/>
        </p:nvCxnSpPr>
        <p:spPr>
          <a:xfrm>
            <a:off x="6900977" y="3794760"/>
            <a:ext cx="630936" cy="0"/>
          </a:xfrm>
          <a:prstGeom prst="line">
            <a:avLst/>
          </a:prstGeom>
          <a:ln w="28575">
            <a:solidFill>
              <a:srgbClr val="1F2F6B"/>
            </a:solidFill>
            <a:tailEnd type="triangle" w="med" len="med"/>
          </a:ln>
        </p:spPr>
      </p:cxnSp>
      <p:sp>
        <p:nvSpPr>
          <p:cNvPr id="251" name="Flow label 251"/>
          <p:cNvSpPr txBox="1"/>
          <p:nvPr/>
        </p:nvSpPr>
        <p:spPr>
          <a:xfrm>
            <a:off x="6855257" y="3227832"/>
            <a:ext cx="722376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b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features</a:t>
            </a:r>
          </a:p>
        </p:txBody>
      </p:sp>
      <p:cxnSp>
        <p:nvCxnSpPr>
          <p:cNvPr id="252" name="Arrow 252"/>
          <p:cNvCxnSpPr/>
          <p:nvPr/>
        </p:nvCxnSpPr>
        <p:spPr>
          <a:xfrm>
            <a:off x="9141257" y="3794760"/>
            <a:ext cx="630936" cy="0"/>
          </a:xfrm>
          <a:prstGeom prst="line">
            <a:avLst/>
          </a:prstGeom>
          <a:ln w="28575">
            <a:solidFill>
              <a:srgbClr val="1F2F6B"/>
            </a:solidFill>
            <a:tailEnd type="triangle" w="med" len="med"/>
          </a:ln>
        </p:spPr>
      </p:cxnSp>
      <p:sp>
        <p:nvSpPr>
          <p:cNvPr id="253" name="Flow label 253"/>
          <p:cNvSpPr txBox="1"/>
          <p:nvPr/>
        </p:nvSpPr>
        <p:spPr>
          <a:xfrm>
            <a:off x="9095537" y="3227832"/>
            <a:ext cx="722376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b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price</a:t>
            </a:r>
          </a:p>
        </p:txBody>
      </p:sp>
      <p:cxnSp>
        <p:nvCxnSpPr>
          <p:cNvPr id="254" name="Arrow 254"/>
          <p:cNvCxnSpPr/>
          <p:nvPr/>
        </p:nvCxnSpPr>
        <p:spPr>
          <a:xfrm>
            <a:off x="10576865" y="4453128"/>
            <a:ext cx="0" cy="667512"/>
          </a:xfrm>
          <a:prstGeom prst="line">
            <a:avLst/>
          </a:prstGeom>
          <a:ln w="28575">
            <a:solidFill>
              <a:srgbClr val="1F2F6B"/>
            </a:solidFill>
          </a:ln>
        </p:spPr>
      </p:cxnSp>
      <p:cxnSp>
        <p:nvCxnSpPr>
          <p:cNvPr id="255" name="Arrow 255"/>
          <p:cNvCxnSpPr/>
          <p:nvPr/>
        </p:nvCxnSpPr>
        <p:spPr>
          <a:xfrm>
            <a:off x="8336585" y="4453128"/>
            <a:ext cx="0" cy="667512"/>
          </a:xfrm>
          <a:prstGeom prst="line">
            <a:avLst/>
          </a:prstGeom>
          <a:ln w="28575">
            <a:solidFill>
              <a:srgbClr val="1F2F6B"/>
            </a:solidFill>
          </a:ln>
        </p:spPr>
      </p:cxnSp>
      <p:cxnSp>
        <p:nvCxnSpPr>
          <p:cNvPr id="256" name="Arrow 256"/>
          <p:cNvCxnSpPr/>
          <p:nvPr/>
        </p:nvCxnSpPr>
        <p:spPr>
          <a:xfrm flipH="1">
            <a:off x="1615745" y="5120640"/>
            <a:ext cx="8961120" cy="0"/>
          </a:xfrm>
          <a:prstGeom prst="line">
            <a:avLst/>
          </a:prstGeom>
          <a:ln w="28575">
            <a:solidFill>
              <a:srgbClr val="1F2F6B"/>
            </a:solidFill>
          </a:ln>
        </p:spPr>
      </p:cxnSp>
      <p:cxnSp>
        <p:nvCxnSpPr>
          <p:cNvPr id="257" name="Arrow 257"/>
          <p:cNvCxnSpPr/>
          <p:nvPr/>
        </p:nvCxnSpPr>
        <p:spPr>
          <a:xfrm flipV="1">
            <a:off x="1615745" y="4462272"/>
            <a:ext cx="0" cy="658368"/>
          </a:xfrm>
          <a:prstGeom prst="line">
            <a:avLst/>
          </a:prstGeom>
          <a:ln w="28575">
            <a:solidFill>
              <a:srgbClr val="1F2F6B"/>
            </a:solidFill>
            <a:tailEnd type="triangle" w="med" len="med"/>
          </a:ln>
        </p:spPr>
      </p:cxnSp>
      <p:sp>
        <p:nvSpPr>
          <p:cNvPr id="258" name="Flow label 258"/>
          <p:cNvSpPr txBox="1"/>
          <p:nvPr/>
        </p:nvSpPr>
        <p:spPr>
          <a:xfrm>
            <a:off x="3078785" y="51663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Predicted house price shown on the Streamlit dashboard</a:t>
            </a:r>
          </a:p>
        </p:txBody>
      </p:sp>
      <p:sp>
        <p:nvSpPr>
          <p:cNvPr id="259" name="Legend 259"/>
          <p:cNvSpPr txBox="1"/>
          <p:nvPr/>
        </p:nvSpPr>
        <p:spPr>
          <a:xfrm>
            <a:off x="838505" y="56692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0" i="1" dirty="0">
                <a:solidFill>
                  <a:srgbClr val="222222"/>
                </a:solidFill>
                <a:latin typeface="Trebuchet MS" panose="020B0603020202020204" pitchFamily="34" charset="0"/>
              </a:rPr>
              <a:t>Rounded box = process,  dark box = external entity,  light box = data store</a:t>
            </a:r>
          </a:p>
        </p:txBody>
      </p:sp>
    </p:spTree>
    <p:extLst>
      <p:ext uri="{BB962C8B-B14F-4D97-AF65-F5344CB8AC3E}">
        <p14:creationId xmlns:p14="http://schemas.microsoft.com/office/powerpoint/2010/main" val="3995706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8CF8C-2BDD-6010-6AD7-5EA18DA5A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DE7717D-4D77-6308-9596-EA4B4A29ED38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193504F4-AD82-7021-F27D-60E881D82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Implementation</a:t>
            </a:r>
            <a:endParaRPr lang="en-IN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7CD585F3-CAA9-CAE7-DAA8-3C58D34F0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2EAE96C-83DF-530A-844A-9A6ADE9AA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9520B5D-17CA-63E0-95CE-AC4DFA702EAA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Card 260"/>
          <p:cNvSpPr/>
          <p:nvPr/>
        </p:nvSpPr>
        <p:spPr>
          <a:xfrm>
            <a:off x="838505" y="1828800"/>
            <a:ext cx="5303520" cy="4434840"/>
          </a:xfrm>
          <a:prstGeom prst="roundRect">
            <a:avLst>
              <a:gd name="adj" fmla="val 12000"/>
            </a:avLst>
          </a:prstGeom>
          <a:solidFill>
            <a:srgbClr val="E6EBF7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endParaRPr lang="en-IN" dirty="0"/>
          </a:p>
        </p:txBody>
      </p:sp>
      <p:sp>
        <p:nvSpPr>
          <p:cNvPr id="261" name="Tools 261"/>
          <p:cNvSpPr txBox="1"/>
          <p:nvPr/>
        </p:nvSpPr>
        <p:spPr>
          <a:xfrm>
            <a:off x="1005840" y="1965960"/>
            <a:ext cx="4983480" cy="4114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IN" sz="1800" b="1" i="0" dirty="0">
                <a:solidFill>
                  <a:srgbClr val="1F2F6B"/>
                </a:solidFill>
                <a:latin typeface="Trebuchet MS" panose="020B0603020202020204" pitchFamily="34" charset="0"/>
              </a:rPr>
              <a:t>Tools used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1500" b="1" i="0" dirty="0">
                <a:solidFill>
                  <a:srgbClr val="222222"/>
                </a:solidFill>
                <a:latin typeface="Trebuchet MS" panose="020B0603020202020204" pitchFamily="34" charset="0"/>
              </a:rPr>
              <a:t>Python + Pandas: </a:t>
            </a:r>
            <a:r>
              <a:rPr lang="en-IN" sz="15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load, clean and prepare the data.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1500" b="1" i="0" dirty="0">
                <a:solidFill>
                  <a:srgbClr val="222222"/>
                </a:solidFill>
                <a:latin typeface="Trebuchet MS" panose="020B0603020202020204" pitchFamily="34" charset="0"/>
              </a:rPr>
              <a:t>Scikit-learn: </a:t>
            </a:r>
            <a:r>
              <a:rPr lang="en-IN" sz="15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Linear Regression, Random Forest, scaling and metrics.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1500" b="1" i="0" dirty="0">
                <a:solidFill>
                  <a:srgbClr val="222222"/>
                </a:solidFill>
                <a:latin typeface="Trebuchet MS" panose="020B0603020202020204" pitchFamily="34" charset="0"/>
              </a:rPr>
              <a:t>XGBoost: </a:t>
            </a:r>
            <a:r>
              <a:rPr lang="en-IN" sz="15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best model with 200 estimators and learning rate 0.05.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1500" b="1" i="0" dirty="0">
                <a:solidFill>
                  <a:srgbClr val="222222"/>
                </a:solidFill>
                <a:latin typeface="Trebuchet MS" panose="020B0603020202020204" pitchFamily="34" charset="0"/>
              </a:rPr>
              <a:t>Streamlit: </a:t>
            </a:r>
            <a:r>
              <a:rPr lang="en-IN" sz="15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web app to enter house details and get the price.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1500" b="1" i="0" dirty="0">
                <a:solidFill>
                  <a:srgbClr val="222222"/>
                </a:solidFill>
                <a:latin typeface="Trebuchet MS" panose="020B0603020202020204" pitchFamily="34" charset="0"/>
              </a:rPr>
              <a:t>Kaggle dataset: </a:t>
            </a:r>
            <a:r>
              <a:rPr lang="en-IN" sz="15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House Prices: Advanced Regression Techniques.</a:t>
            </a:r>
          </a:p>
        </p:txBody>
      </p:sp>
      <p:sp>
        <p:nvSpPr>
          <p:cNvPr id="262" name="Heading 262"/>
          <p:cNvSpPr txBox="1"/>
          <p:nvPr/>
        </p:nvSpPr>
        <p:spPr>
          <a:xfrm>
            <a:off x="6492240" y="182880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1F2F6B"/>
                </a:solidFill>
                <a:latin typeface="Trebuchet MS" panose="020B0603020202020204" pitchFamily="34" charset="0"/>
              </a:rPr>
              <a:t>Model comparison (R-squared)</a:t>
            </a:r>
          </a:p>
        </p:txBody>
      </p:sp>
      <p:sp>
        <p:nvSpPr>
          <p:cNvPr id="263" name="Risk 263"/>
          <p:cNvSpPr/>
          <p:nvPr/>
        </p:nvSpPr>
        <p:spPr>
          <a:xfrm>
            <a:off x="6492240" y="2331720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7986CB"/>
          </a:solidFill>
          <a:ln>
            <a:noFill/>
          </a:ln>
        </p:spPr>
        <p:txBody>
          <a:bodyPr wrap="square" lIns="182880" tIns="45720" rIns="18288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i="0" dirty="0">
                <a:solidFill>
                  <a:srgbClr val="FFFFFF"/>
                </a:solidFill>
                <a:latin typeface="Trebuchet MS" panose="020B0603020202020204" pitchFamily="34" charset="0"/>
              </a:rPr>
              <a:t>Linear Regression: 0.8297</a:t>
            </a:r>
          </a:p>
        </p:txBody>
      </p:sp>
      <p:sp>
        <p:nvSpPr>
          <p:cNvPr id="264" name="Risk 264"/>
          <p:cNvSpPr/>
          <p:nvPr/>
        </p:nvSpPr>
        <p:spPr>
          <a:xfrm>
            <a:off x="6492240" y="2898648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5C6BC0"/>
          </a:solidFill>
          <a:ln>
            <a:noFill/>
          </a:ln>
        </p:spPr>
        <p:txBody>
          <a:bodyPr wrap="square" lIns="182880" tIns="45720" rIns="18288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i="0" dirty="0">
                <a:solidFill>
                  <a:srgbClr val="FFFFFF"/>
                </a:solidFill>
                <a:latin typeface="Trebuchet MS" panose="020B0603020202020204" pitchFamily="34" charset="0"/>
              </a:rPr>
              <a:t>Random Forest: 0.8362</a:t>
            </a:r>
          </a:p>
        </p:txBody>
      </p:sp>
      <p:sp>
        <p:nvSpPr>
          <p:cNvPr id="265" name="Risk 265"/>
          <p:cNvSpPr/>
          <p:nvPr/>
        </p:nvSpPr>
        <p:spPr>
          <a:xfrm>
            <a:off x="6492240" y="3465576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1F2F6B"/>
          </a:solidFill>
          <a:ln>
            <a:noFill/>
          </a:ln>
        </p:spPr>
        <p:txBody>
          <a:bodyPr wrap="square" lIns="182880" tIns="45720" rIns="18288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i="0" dirty="0">
                <a:solidFill>
                  <a:srgbClr val="FFFFFF"/>
                </a:solidFill>
                <a:latin typeface="Trebuchet MS" panose="020B0603020202020204" pitchFamily="34" charset="0"/>
              </a:rPr>
              <a:t>XGBoost (best): 0.8395</a:t>
            </a:r>
          </a:p>
        </p:txBody>
      </p:sp>
      <p:sp>
        <p:nvSpPr>
          <p:cNvPr id="266" name="Info 266"/>
          <p:cNvSpPr/>
          <p:nvPr/>
        </p:nvSpPr>
        <p:spPr>
          <a:xfrm>
            <a:off x="6492240" y="4206240"/>
            <a:ext cx="4846320" cy="2057400"/>
          </a:xfrm>
          <a:prstGeom prst="roundRect">
            <a:avLst>
              <a:gd name="adj" fmla="val 12000"/>
            </a:avLst>
          </a:prstGeom>
          <a:solidFill>
            <a:srgbClr val="E6EBF7"/>
          </a:solidFill>
          <a:ln>
            <a:noFill/>
          </a:ln>
        </p:spPr>
        <p:txBody>
          <a:bodyPr wrap="square" lIns="182880" tIns="45720" rIns="18288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1800" b="1" i="0" dirty="0">
                <a:solidFill>
                  <a:srgbClr val="1F2F6B"/>
                </a:solidFill>
                <a:latin typeface="Trebuchet MS" panose="020B0603020202020204" pitchFamily="34" charset="0"/>
              </a:rPr>
              <a:t>Prediction in the app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15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1. User enters the house details.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15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2. XGBoost predicts the price.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3. The result is shown instantly.</a:t>
            </a:r>
          </a:p>
        </p:txBody>
      </p:sp>
    </p:spTree>
    <p:extLst>
      <p:ext uri="{BB962C8B-B14F-4D97-AF65-F5344CB8AC3E}">
        <p14:creationId xmlns:p14="http://schemas.microsoft.com/office/powerpoint/2010/main" val="3156619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4BAFA-C592-6E55-F818-230D80E53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A917874-E942-8E27-5727-4CF761368A00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6797BE05-8F59-7FA4-8DFC-C78CE047B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Conclusion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576252F9-7407-F97F-6D97-2D0D9E646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505" y="1893677"/>
            <a:ext cx="6675120" cy="4491945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lang="en-IN" sz="2000" b="0" i="0" dirty="0">
                <a:latin typeface="Trebuchet MS" panose="020B0603020202020204" pitchFamily="34" charset="0"/>
              </a:rPr>
              <a:t>The system predicts house prices from property features using machine learning.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lang="en-IN" sz="2000" b="0" i="0" dirty="0">
                <a:latin typeface="Trebuchet MS" panose="020B0603020202020204" pitchFamily="34" charset="0"/>
              </a:rPr>
              <a:t>XGBoost performed best among the 3 models and explains about 84% of the price variance.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lang="en-IN" sz="2000" b="0" i="0" dirty="0">
                <a:latin typeface="Trebuchet MS" panose="020B0603020202020204" pitchFamily="34" charset="0"/>
              </a:rPr>
              <a:t>Feature engineering (TotalSF, HouseAge, TotalBath) improved accuracy.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lang="en-IN" sz="2000" b="0" i="0" dirty="0">
                <a:latin typeface="Trebuchet MS" panose="020B0603020202020204" pitchFamily="34" charset="0"/>
              </a:rPr>
              <a:t>The Streamlit app gives instant predictions from user inputs.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lang="en-IN" sz="2000" b="0" i="0" dirty="0">
                <a:latin typeface="Trebuchet MS" panose="020B0603020202020204" pitchFamily="34" charset="0"/>
              </a:rPr>
              <a:t>Future scope: hyperparameter tuning, geospatial features and SHAP explainability.</a:t>
            </a: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EB1D0318-6550-EC88-F3AF-851BB4016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621C906-46E9-BD68-7B7C-DF38DA05B1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7CAD0B6-0563-E4E4-4ADE-CCEEE57C51FF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Heading 267"/>
          <p:cNvSpPr txBox="1"/>
          <p:nvPr/>
        </p:nvSpPr>
        <p:spPr>
          <a:xfrm>
            <a:off x="7863840" y="182880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1F2F6B"/>
                </a:solidFill>
                <a:latin typeface="Trebuchet MS" panose="020B0603020202020204" pitchFamily="34" charset="0"/>
              </a:rPr>
              <a:t>Test results of the model</a:t>
            </a:r>
          </a:p>
        </p:txBody>
      </p:sp>
      <p:sp>
        <p:nvSpPr>
          <p:cNvPr id="268" name="Stat 268"/>
          <p:cNvSpPr/>
          <p:nvPr/>
        </p:nvSpPr>
        <p:spPr>
          <a:xfrm>
            <a:off x="7863840" y="2331720"/>
            <a:ext cx="3474720" cy="1097280"/>
          </a:xfrm>
          <a:prstGeom prst="roundRect">
            <a:avLst>
              <a:gd name="adj" fmla="val 12000"/>
            </a:avLst>
          </a:prstGeom>
          <a:solidFill>
            <a:srgbClr val="E6EBF7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3000" b="1" i="0" dirty="0">
                <a:solidFill>
                  <a:srgbClr val="1F2F6B"/>
                </a:solidFill>
                <a:latin typeface="Trebuchet MS" panose="020B0603020202020204" pitchFamily="34" charset="0"/>
              </a:rPr>
              <a:t>0.8395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R-squared score (1 is best)</a:t>
            </a:r>
          </a:p>
        </p:txBody>
      </p:sp>
      <p:sp>
        <p:nvSpPr>
          <p:cNvPr id="269" name="Stat 269"/>
          <p:cNvSpPr/>
          <p:nvPr/>
        </p:nvSpPr>
        <p:spPr>
          <a:xfrm>
            <a:off x="7863840" y="3611880"/>
            <a:ext cx="3474720" cy="1097280"/>
          </a:xfrm>
          <a:prstGeom prst="roundRect">
            <a:avLst>
              <a:gd name="adj" fmla="val 12000"/>
            </a:avLst>
          </a:prstGeom>
          <a:solidFill>
            <a:srgbClr val="E6EBF7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3000" b="1" i="0" dirty="0">
                <a:solidFill>
                  <a:srgbClr val="1F2F6B"/>
                </a:solidFill>
                <a:latin typeface="Trebuchet MS" panose="020B0603020202020204" pitchFamily="34" charset="0"/>
              </a:rPr>
              <a:t>0.0934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Average error (MAE)</a:t>
            </a:r>
          </a:p>
        </p:txBody>
      </p:sp>
      <p:sp>
        <p:nvSpPr>
          <p:cNvPr id="270" name="Stat 270"/>
          <p:cNvSpPr/>
          <p:nvPr/>
        </p:nvSpPr>
        <p:spPr>
          <a:xfrm>
            <a:off x="7863840" y="4892040"/>
            <a:ext cx="3474720" cy="1097280"/>
          </a:xfrm>
          <a:prstGeom prst="roundRect">
            <a:avLst>
              <a:gd name="adj" fmla="val 12000"/>
            </a:avLst>
          </a:prstGeom>
          <a:solidFill>
            <a:srgbClr val="E6EBF7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3000" b="1" i="0" dirty="0">
                <a:solidFill>
                  <a:srgbClr val="1F2F6B"/>
                </a:solidFill>
                <a:latin typeface="Trebuchet MS" panose="020B0603020202020204" pitchFamily="34" charset="0"/>
              </a:rPr>
              <a:t>0.1362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222222"/>
                </a:solidFill>
                <a:latin typeface="Trebuchet MS" panose="020B0603020202020204" pitchFamily="34" charset="0"/>
              </a:rPr>
              <a:t>RMSE (error size)</a:t>
            </a:r>
          </a:p>
        </p:txBody>
      </p:sp>
    </p:spTree>
    <p:extLst>
      <p:ext uri="{BB962C8B-B14F-4D97-AF65-F5344CB8AC3E}">
        <p14:creationId xmlns:p14="http://schemas.microsoft.com/office/powerpoint/2010/main" val="3282002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0740A-1926-004E-5F53-EC1D463A3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0D6604C-0111-798A-182A-4B4A8088B877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F0E60A89-A293-BACC-B000-32B562FF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References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53F3E7E9-D890-6368-D23D-EC75E5D44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10515600" cy="4491945"/>
          </a:xfrm>
        </p:spPr>
        <p:txBody>
          <a:bodyPr>
            <a:normAutofit/>
          </a:bodyPr>
          <a:lstStyle/>
          <a:p>
            <a:pPr marL="457200" indent="-457200"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IN" sz="1600" b="0" i="0" dirty="0">
                <a:latin typeface="Trebuchet MS" panose="020B0603020202020204" pitchFamily="34" charset="0"/>
              </a:rPr>
              <a:t>T. Chen and C. Guestrin, "XGBoost: A Scalable Tree Boosting System," Proc. 22nd ACM SIGKDD Int. Conf. on Knowledge Discovery and Data Mining, pp. 785-794, 2016.</a:t>
            </a:r>
          </a:p>
          <a:p>
            <a:pPr marL="457200" indent="-457200"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IN" sz="1600" b="0" i="0" dirty="0">
                <a:latin typeface="Trebuchet MS" panose="020B0603020202020204" pitchFamily="34" charset="0"/>
              </a:rPr>
              <a:t>L. Breiman, "Random Forests," Machine Learning, vol. 45, no. 1, pp. 5-32, 2001.</a:t>
            </a:r>
          </a:p>
          <a:p>
            <a:pPr marL="457200" indent="-457200"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IN" sz="1600" b="0" i="0" dirty="0">
                <a:latin typeface="Trebuchet MS" panose="020B0603020202020204" pitchFamily="34" charset="0"/>
              </a:rPr>
              <a:t>F. Pedregosa et al., "Scikit-learn: Machine Learning in Python," Journal of Machine Learning Research, vol. 12, pp. 2825-2830, 2011.</a:t>
            </a:r>
          </a:p>
          <a:p>
            <a:pPr marL="457200" indent="-457200"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IN" sz="1600" b="0" i="0" dirty="0">
                <a:latin typeface="Trebuchet MS" panose="020B0603020202020204" pitchFamily="34" charset="0"/>
              </a:rPr>
              <a:t>D. De Cock, "Ames, Iowa: Alternative to the Boston Housing Data as an End of Semester Regression Project," Journal of Statistics Education, vol. 19, no. 3, 2011.</a:t>
            </a:r>
          </a:p>
          <a:p>
            <a:pPr marL="457200" indent="-457200"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IN" sz="1600" b="0" i="0" dirty="0">
                <a:latin typeface="Trebuchet MS" panose="020B0603020202020204" pitchFamily="34" charset="0"/>
              </a:rPr>
              <a:t>Streamlit and Pandas official documentation: docs.streamlit.io, pandas.pydata.org</a:t>
            </a:r>
          </a:p>
          <a:p>
            <a:pPr marL="457200" indent="-457200"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IN" sz="1600" b="0" i="0" dirty="0">
                <a:latin typeface="Trebuchet MS" panose="020B0603020202020204" pitchFamily="34" charset="0"/>
              </a:rPr>
              <a:t>Project dataset: Kaggle, "House Prices: Advanced Regression Techniques" (1,460 records, 81 features), kaggle.com.</a:t>
            </a: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F82CFBCD-7126-3AE3-561D-39FAD29A7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EC357A8-5422-9E9E-6C0A-8206D4E0F9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F3B6F4C-2D37-AAF2-8965-565DA634178C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16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89</TotalTime>
  <Words>826</Words>
  <Application>Microsoft Office PowerPoint</Application>
  <PresentationFormat>Widescreen</PresentationFormat>
  <Paragraphs>126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Trebuchet MS</vt:lpstr>
      <vt:lpstr>Office Theme</vt:lpstr>
      <vt:lpstr>    </vt:lpstr>
      <vt:lpstr>Outline</vt:lpstr>
      <vt:lpstr>Introduction</vt:lpstr>
      <vt:lpstr>Objectives</vt:lpstr>
      <vt:lpstr>Methodology Used</vt:lpstr>
      <vt:lpstr>Data Flow Diagram: Level 0</vt:lpstr>
      <vt:lpstr>Data Flow Diagram: Level 1</vt:lpstr>
      <vt:lpstr>Implementation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</dc:title>
  <dc:creator>Suyash Shukla</dc:creator>
  <cp:lastModifiedBy>Shreyansh Srivastava</cp:lastModifiedBy>
  <cp:revision>8</cp:revision>
  <dcterms:created xsi:type="dcterms:W3CDTF">2024-08-24T09:30:54Z</dcterms:created>
  <dcterms:modified xsi:type="dcterms:W3CDTF">2026-10-12T08:57:18Z</dcterms:modified>
</cp:coreProperties>
</file>